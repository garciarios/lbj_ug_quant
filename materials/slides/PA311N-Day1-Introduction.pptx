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3afff5ff940f1" /><Relationship Type="http://schemas.openxmlformats.org/officeDocument/2006/relationships/extended-properties" Target="/docProps/app.xml" Id="R89ea716a953c4003" /><Relationship Type="http://schemas.openxmlformats.org/officeDocument/2006/relationships/officeDocument" Target="/ppt/presentation.xml" Id="Rd8b3ae03290a4c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f9e1ce3e1b44e9"/>
  </p:sldMasterIdLst>
  <p:notesMasterIdLst>
    <p:notesMasterId xmlns:r="http://schemas.openxmlformats.org/officeDocument/2006/relationships" r:id="Rc783ff5e35e1463b"/>
  </p:notesMasterIdLst>
  <p:sldIdLst>
    <p:sldId xmlns:r="http://schemas.openxmlformats.org/officeDocument/2006/relationships" id="256" r:id="R593429497bca44ee"/>
    <p:sldId xmlns:r="http://schemas.openxmlformats.org/officeDocument/2006/relationships" id="257" r:id="R18115d475d7b432e"/>
    <p:sldId xmlns:r="http://schemas.openxmlformats.org/officeDocument/2006/relationships" id="258" r:id="R4628297a19bc4fb1"/>
    <p:sldId xmlns:r="http://schemas.openxmlformats.org/officeDocument/2006/relationships" id="259" r:id="Rf82c30db039545e5"/>
    <p:sldId xmlns:r="http://schemas.openxmlformats.org/officeDocument/2006/relationships" id="260" r:id="R1ed98afb41a14924"/>
    <p:sldId xmlns:r="http://schemas.openxmlformats.org/officeDocument/2006/relationships" id="261" r:id="Rcd4b459e8d834b6c"/>
    <p:sldId xmlns:r="http://schemas.openxmlformats.org/officeDocument/2006/relationships" id="262" r:id="R26612f20d9d94105"/>
    <p:sldId xmlns:r="http://schemas.openxmlformats.org/officeDocument/2006/relationships" id="263" r:id="Rdc026c0e8dae42e0"/>
    <p:sldId xmlns:r="http://schemas.openxmlformats.org/officeDocument/2006/relationships" id="264" r:id="R9d24b115570d4f8c"/>
    <p:sldId xmlns:r="http://schemas.openxmlformats.org/officeDocument/2006/relationships" id="265" r:id="R0324443fca8f4fd4"/>
    <p:sldId xmlns:r="http://schemas.openxmlformats.org/officeDocument/2006/relationships" id="266" r:id="Rd3e142e742f3466d"/>
    <p:sldId xmlns:r="http://schemas.openxmlformats.org/officeDocument/2006/relationships" id="267" r:id="Re31b89d2b7d94d3a"/>
    <p:sldId xmlns:r="http://schemas.openxmlformats.org/officeDocument/2006/relationships" id="268" r:id="R815dd870f0fb4b14"/>
    <p:sldId xmlns:r="http://schemas.openxmlformats.org/officeDocument/2006/relationships" id="269" r:id="Rb4250f060bc64365"/>
    <p:sldId xmlns:r="http://schemas.openxmlformats.org/officeDocument/2006/relationships" id="270" r:id="R56692cf14c90464f"/>
    <p:sldId xmlns:r="http://schemas.openxmlformats.org/officeDocument/2006/relationships" id="271" r:id="R4cc668be8fd64468"/>
    <p:sldId xmlns:r="http://schemas.openxmlformats.org/officeDocument/2006/relationships" id="272" r:id="R7d6f00b8cd094867"/>
    <p:sldId xmlns:r="http://schemas.openxmlformats.org/officeDocument/2006/relationships" id="273" r:id="R16a4c56ab5ae4e04"/>
    <p:sldId xmlns:r="http://schemas.openxmlformats.org/officeDocument/2006/relationships" id="274" r:id="Rd4a574e0f02a49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bcdd99dd0e4ec9" /><Relationship Type="http://schemas.openxmlformats.org/officeDocument/2006/relationships/slideMaster" Target="/ppt/slideMasters/slideMaster1.xml" Id="R93f9e1ce3e1b44e9" /><Relationship Type="http://schemas.openxmlformats.org/officeDocument/2006/relationships/notesMaster" Target="/ppt/notesMasters/notesMaster1.xml" Id="Rc783ff5e35e1463b" /><Relationship Type="http://schemas.openxmlformats.org/officeDocument/2006/relationships/presProps" Target="/ppt/presProps.xml" Id="Rdb3bab3a1f3b4f32" /><Relationship Type="http://schemas.openxmlformats.org/officeDocument/2006/relationships/tableStyles" Target="/ppt/tableStyles.xml" Id="R80bcc32bec5e4178" /><Relationship Type="http://schemas.openxmlformats.org/officeDocument/2006/relationships/slide" Target="/ppt/slides/slide1.xml" Id="R593429497bca44ee" /><Relationship Type="http://schemas.openxmlformats.org/officeDocument/2006/relationships/slide" Target="/ppt/slides/slide2.xml" Id="R18115d475d7b432e" /><Relationship Type="http://schemas.openxmlformats.org/officeDocument/2006/relationships/slide" Target="/ppt/slides/slide3.xml" Id="R4628297a19bc4fb1" /><Relationship Type="http://schemas.openxmlformats.org/officeDocument/2006/relationships/slide" Target="/ppt/slides/slide4.xml" Id="Rf82c30db039545e5" /><Relationship Type="http://schemas.openxmlformats.org/officeDocument/2006/relationships/slide" Target="/ppt/slides/slide5.xml" Id="R1ed98afb41a14924" /><Relationship Type="http://schemas.openxmlformats.org/officeDocument/2006/relationships/slide" Target="/ppt/slides/slide6.xml" Id="Rcd4b459e8d834b6c" /><Relationship Type="http://schemas.openxmlformats.org/officeDocument/2006/relationships/slide" Target="/ppt/slides/slide7.xml" Id="R26612f20d9d94105" /><Relationship Type="http://schemas.openxmlformats.org/officeDocument/2006/relationships/slide" Target="/ppt/slides/slide8.xml" Id="Rdc026c0e8dae42e0" /><Relationship Type="http://schemas.openxmlformats.org/officeDocument/2006/relationships/slide" Target="/ppt/slides/slide9.xml" Id="R9d24b115570d4f8c" /><Relationship Type="http://schemas.openxmlformats.org/officeDocument/2006/relationships/slide" Target="/ppt/slides/slide10.xml" Id="R0324443fca8f4fd4" /><Relationship Type="http://schemas.openxmlformats.org/officeDocument/2006/relationships/slide" Target="/ppt/slides/slide11.xml" Id="Rd3e142e742f3466d" /><Relationship Type="http://schemas.openxmlformats.org/officeDocument/2006/relationships/slide" Target="/ppt/slides/slide12.xml" Id="Re31b89d2b7d94d3a" /><Relationship Type="http://schemas.openxmlformats.org/officeDocument/2006/relationships/slide" Target="/ppt/slides/slide13.xml" Id="R815dd870f0fb4b14" /><Relationship Type="http://schemas.openxmlformats.org/officeDocument/2006/relationships/slide" Target="/ppt/slides/slide14.xml" Id="Rb4250f060bc64365" /><Relationship Type="http://schemas.openxmlformats.org/officeDocument/2006/relationships/slide" Target="/ppt/slides/slide15.xml" Id="R56692cf14c90464f" /><Relationship Type="http://schemas.openxmlformats.org/officeDocument/2006/relationships/slide" Target="/ppt/slides/slide16.xml" Id="R4cc668be8fd64468" /><Relationship Type="http://schemas.openxmlformats.org/officeDocument/2006/relationships/slide" Target="/ppt/slides/slide17.xml" Id="R7d6f00b8cd094867" /><Relationship Type="http://schemas.openxmlformats.org/officeDocument/2006/relationships/slide" Target="/ppt/slides/slide18.xml" Id="R16a4c56ab5ae4e04" /><Relationship Type="http://schemas.openxmlformats.org/officeDocument/2006/relationships/slide" Target="/ppt/slides/slide19.xml" Id="Rd4a574e0f02a49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e8da0586df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a77e7f4d054a0f" /><Relationship Type="http://schemas.openxmlformats.org/officeDocument/2006/relationships/notesMaster" Target="/ppt/notesMasters/notesMaster1.xml" Id="R3eff38921f4040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274dcb0ff4df5" /><Relationship Type="http://schemas.openxmlformats.org/officeDocument/2006/relationships/notesMaster" Target="/ppt/notesMasters/notesMaster1.xml" Id="R168b159392ce4e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9a395f3384c77" /><Relationship Type="http://schemas.openxmlformats.org/officeDocument/2006/relationships/notesMaster" Target="/ppt/notesMasters/notesMaster1.xml" Id="R5c9bed2c800740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b90967ebb445e5" /><Relationship Type="http://schemas.openxmlformats.org/officeDocument/2006/relationships/notesMaster" Target="/ppt/notesMasters/notesMaster1.xml" Id="R27ff899d889d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5392e79cd4ce6" /><Relationship Type="http://schemas.openxmlformats.org/officeDocument/2006/relationships/notesMaster" Target="/ppt/notesMasters/notesMaster1.xml" Id="R4fda5ef6b3a9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cbede39a8e4011" /><Relationship Type="http://schemas.openxmlformats.org/officeDocument/2006/relationships/notesMaster" Target="/ppt/notesMasters/notesMaster1.xml" Id="Rfcf025d226624b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30f4274ea4488a" /><Relationship Type="http://schemas.openxmlformats.org/officeDocument/2006/relationships/notesMaster" Target="/ppt/notesMasters/notesMaster1.xml" Id="R65d23f0e438f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5bc9403d4d49ce" /><Relationship Type="http://schemas.openxmlformats.org/officeDocument/2006/relationships/notesMaster" Target="/ppt/notesMasters/notesMaster1.xml" Id="R7158c24560fd48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a15fb92b954cdc" /><Relationship Type="http://schemas.openxmlformats.org/officeDocument/2006/relationships/notesMaster" Target="/ppt/notesMasters/notesMaster1.xml" Id="Rf1e172ba741f4d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e1726896c84c8e" /><Relationship Type="http://schemas.openxmlformats.org/officeDocument/2006/relationships/notesMaster" Target="/ppt/notesMasters/notesMaster1.xml" Id="R9eda0e19ab4849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a1ed3469b0405f" /><Relationship Type="http://schemas.openxmlformats.org/officeDocument/2006/relationships/notesMaster" Target="/ppt/notesMasters/notesMaster1.xml" Id="R40e8afa0902c47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d5bb1c6c014e59" /><Relationship Type="http://schemas.openxmlformats.org/officeDocument/2006/relationships/notesMaster" Target="/ppt/notesMasters/notesMaster1.xml" Id="R0cbd6c394fa446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740da142ac4843" /><Relationship Type="http://schemas.openxmlformats.org/officeDocument/2006/relationships/notesMaster" Target="/ppt/notesMasters/notesMaster1.xml" Id="R48c11633bf4049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cdf3b1cf264b6e" /><Relationship Type="http://schemas.openxmlformats.org/officeDocument/2006/relationships/notesMaster" Target="/ppt/notesMasters/notesMaster1.xml" Id="R39103cb584b943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4bffddada3488a" /><Relationship Type="http://schemas.openxmlformats.org/officeDocument/2006/relationships/notesMaster" Target="/ppt/notesMasters/notesMaster1.xml" Id="R69a0553cb5b547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8ace5c13804217" /><Relationship Type="http://schemas.openxmlformats.org/officeDocument/2006/relationships/notesMaster" Target="/ppt/notesMasters/notesMaster1.xml" Id="Rdac48023522542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24c63c684e4891" /><Relationship Type="http://schemas.openxmlformats.org/officeDocument/2006/relationships/notesMaster" Target="/ppt/notesMasters/notesMaster1.xml" Id="R6027b9251a3d47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27c656c89a4671" /><Relationship Type="http://schemas.openxmlformats.org/officeDocument/2006/relationships/notesMaster" Target="/ppt/notesMasters/notesMaster1.xml" Id="R03276cf1f99d4b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e6228ec75a48b1" /><Relationship Type="http://schemas.openxmlformats.org/officeDocument/2006/relationships/notesMaster" Target="/ppt/notesMasters/notesMaster1.xml" Id="Rf9b0e95009b7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 and frame the course around substantive policy questions rather than formulas.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Adapted from Sergio I. García-Ríos, GOVT 3990 Day 1 deck (topic0.tex and accompanying assets).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1cfa0ad5c4c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fd25c3e92e4f58" /><Relationship Type="http://schemas.openxmlformats.org/officeDocument/2006/relationships/slideLayout" Target="/ppt/slideLayouts/slideLayout1.xml" Id="R47dd80386aab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dd80386aab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1e2a68f534b5f" /><Relationship Type="http://schemas.openxmlformats.org/officeDocument/2006/relationships/notesSlide" Target="/ppt/notesSlides/notesSlide1.xml" Id="R287a9f36dce847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65fe1d8904354" /><Relationship Type="http://schemas.openxmlformats.org/officeDocument/2006/relationships/notesSlide" Target="/ppt/notesSlides/notesSlide2.xml" Id="R6712563b0fd2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6e39dc11646dc" /><Relationship Type="http://schemas.openxmlformats.org/officeDocument/2006/relationships/notesSlide" Target="/ppt/notesSlides/notesSlide3.xml" Id="R0682c6c03b2640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33f6b0cf640fb" /><Relationship Type="http://schemas.openxmlformats.org/officeDocument/2006/relationships/notesSlide" Target="/ppt/notesSlides/notesSlide4.xml" Id="R5604052c53ce40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76bb99b4c4eb7" /><Relationship Type="http://schemas.openxmlformats.org/officeDocument/2006/relationships/notesSlide" Target="/ppt/notesSlides/notesSlide5.xml" Id="R221687a261b74c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ba0fead6a475b" /><Relationship Type="http://schemas.openxmlformats.org/officeDocument/2006/relationships/notesSlide" Target="/ppt/notesSlides/notesSlide6.xml" Id="R61335c11a2da4e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d15f2ca3b4501" /><Relationship Type="http://schemas.openxmlformats.org/officeDocument/2006/relationships/notesSlide" Target="/ppt/notesSlides/notesSlide7.xml" Id="R747ba9f8a5714d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fce405bd49a1" /><Relationship Type="http://schemas.openxmlformats.org/officeDocument/2006/relationships/notesSlide" Target="/ppt/notesSlides/notesSlide8.xml" Id="R01de5918a3924e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4303b55514e2e" /><Relationship Type="http://schemas.openxmlformats.org/officeDocument/2006/relationships/notesSlide" Target="/ppt/notesSlides/notesSlide9.xml" Id="R504fd2b55d1f4c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a3df6fa374616" /><Relationship Type="http://schemas.openxmlformats.org/officeDocument/2006/relationships/notesSlide" Target="/ppt/notesSlides/notesSlide10.xml" Id="Reea283abc2c244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5800ebad48de" /><Relationship Type="http://schemas.openxmlformats.org/officeDocument/2006/relationships/notesSlide" Target="/ppt/notesSlides/notesSlide11.xml" Id="Ra056d2cafcaf4c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17b4bf6144f08" /><Relationship Type="http://schemas.openxmlformats.org/officeDocument/2006/relationships/image" Target="/ppt/media/image.jpeg" Id="R86d9a96b41d0418f" /><Relationship Type="http://schemas.openxmlformats.org/officeDocument/2006/relationships/notesSlide" Target="/ppt/notesSlides/notesSlide12.xml" Id="R4608b01d407241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f52a46b984c16" /><Relationship Type="http://schemas.openxmlformats.org/officeDocument/2006/relationships/notesSlide" Target="/ppt/notesSlides/notesSlide13.xml" Id="R23b70589001745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9e109dac54295" /><Relationship Type="http://schemas.openxmlformats.org/officeDocument/2006/relationships/notesSlide" Target="/ppt/notesSlides/notesSlide14.xml" Id="Rbe39d7495b7b45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e539fd51c43a9" /><Relationship Type="http://schemas.openxmlformats.org/officeDocument/2006/relationships/image" Target="/ppt/media/image.png" Id="Rb522914514434a68" /><Relationship Type="http://schemas.openxmlformats.org/officeDocument/2006/relationships/notesSlide" Target="/ppt/notesSlides/notesSlide15.xml" Id="R55fae3200c514d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16cdbf2b64ed5" /><Relationship Type="http://schemas.openxmlformats.org/officeDocument/2006/relationships/image" Target="/ppt/media/image2.png" Id="R6cec6e2a19674278" /><Relationship Type="http://schemas.openxmlformats.org/officeDocument/2006/relationships/notesSlide" Target="/ppt/notesSlides/notesSlide16.xml" Id="R82b02e483d684c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fb2e6b0de4e71" /><Relationship Type="http://schemas.openxmlformats.org/officeDocument/2006/relationships/notesSlide" Target="/ppt/notesSlides/notesSlide17.xml" Id="R55a34e94cc8144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2e1ddeeec4a99" /><Relationship Type="http://schemas.openxmlformats.org/officeDocument/2006/relationships/image" Target="/ppt/media/image3.png" Id="Rb90d181f62ba4768" /><Relationship Type="http://schemas.openxmlformats.org/officeDocument/2006/relationships/notesSlide" Target="/ppt/notesSlides/notesSlide18.xml" Id="R7e14a50eb86145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28fad6ecc4890" /><Relationship Type="http://schemas.openxmlformats.org/officeDocument/2006/relationships/image" Target="/ppt/media/image2.jpeg" Id="Rf41b0cae3ba0475b" /><Relationship Type="http://schemas.openxmlformats.org/officeDocument/2006/relationships/notesSlide" Target="/ppt/notesSlides/notesSlide19.xml" Id="R1a38cb0b2bf74a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0F974-ACC1-4E88-93D1-369BD45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12145-6FCC-47CB-90B7-F9A7073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EBF2"/>
                </a:solidFill>
              </a:defRPr>
            </a:pPr>
            <a:r>
              <a:rPr sz="1200" b="1">
                <a:solidFill>
                  <a:srgbClr val="E6EBF2"/>
                </a:solidFill>
              </a:rPr>
              <a:t>UNDERGRADUATE QUANTITATIVE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8D3AB-255C-427C-BC03-C98ADA94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838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Data Analysis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9DA1-A1A1-4301-8BB5-B0C73683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DBCE6-2977-432B-8B29-BD483231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 311N · Fall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CE753-D19C-464B-9379-0B5176E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DCE7"/>
                </a:solidFill>
              </a:defRPr>
            </a:pPr>
            <a:r>
              <a:rPr sz="1650" b="0">
                <a:solidFill>
                  <a:srgbClr val="D5DCE7"/>
                </a:solidFill>
              </a:rPr>
              <a:t>Sergio I. García-Ríos</a:t>
            </a:r>
          </a:p>
          <a:p xmlns:a="http://schemas.openxmlformats.org/drawingml/2006/main">
            <a:pPr algn="l">
              <a:defRPr sz="1650" b="0">
                <a:solidFill>
                  <a:srgbClr val="D5DCE7"/>
                </a:solidFill>
              </a:defRPr>
            </a:pPr>
            <a:r>
              <a:rPr sz="1650" b="0">
                <a:solidFill>
                  <a:srgbClr val="D5DCE7"/>
                </a:solidFill>
              </a:rPr>
              <a:t>LBJ School of Public Affairs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F5F15-CA54-4B9A-8AB4-A4F4A26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C6A4"/>
                </a:solidFill>
              </a:defRPr>
            </a:pPr>
            <a:r>
              <a:rPr sz="1500" b="0">
                <a:solidFill>
                  <a:srgbClr val="F2C6A4"/>
                </a:solidFill>
              </a:rPr>
              <a:t>Statistical reasoning · R · Public-policy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09009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23424-323B-406C-979D-DDE296E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D673A-662C-431A-9E0B-DBD2A920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A7EA3-FC44-4B3C-83E6-EFB2DFA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842FB-F1D5-420D-BFE0-3988CFDE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The question that organizes this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C2630-CC9D-4F64-ADA8-72A9E2A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1BBEC-1276-4968-B895-951DB86E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2A46"/>
                </a:solidFill>
              </a:defRPr>
            </a:pPr>
            <a:r>
              <a:rPr sz="3000" b="1">
                <a:solidFill>
                  <a:srgbClr val="172A46"/>
                </a:solidFill>
              </a:rPr>
              <a:t>How can we use imperfect data to make better public-policy decisions?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AF70-C3F0-449D-A8FB-A19B5269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877"/>
                </a:solidFill>
              </a:defRPr>
            </a:pPr>
            <a:r>
              <a:rPr sz="1800" b="0">
                <a:solidFill>
                  <a:srgbClr val="5E6877"/>
                </a:solidFill>
              </a:rPr>
              <a:t>Every method begins with a substantive question—and ends with an interpretation someone can use.</a:t>
            </a:r>
          </a:p>
        </p:txBody>
      </p:sp>
    </p:spTree>
    <p:extLst>
      <p:ext uri="{BB962C8B-B14F-4D97-AF65-F5344CB8AC3E}">
        <p14:creationId xmlns:p14="http://schemas.microsoft.com/office/powerpoint/2010/main" val="1087079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B52A1-D247-42FA-9874-4B35B286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2F220-50F1-4C74-8BA9-BE230C6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2D4E2-0F1A-4612-B658-2A5CD58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20D7-2578-451E-8639-D8F77068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Teaching team and weekly rhythm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B2B9A-679F-425A-81CF-D3FCAC4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57348-8E15-445C-A7C2-6FC429EA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A46"/>
                </a:solidFill>
              </a:defRPr>
            </a:pPr>
            <a:r>
              <a:rPr sz="2100" b="1">
                <a:solidFill>
                  <a:srgbClr val="172A46"/>
                </a:solidFill>
              </a:rPr>
              <a:t>Sergio I. García-Ríos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F04E3-9381-4E17-A86B-190F73B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7"/>
                </a:solidFill>
              </a:defRPr>
            </a:pPr>
            <a:r>
              <a:rPr sz="1500" b="0">
                <a:solidFill>
                  <a:srgbClr val="5E6877"/>
                </a:solidFill>
              </a:rPr>
              <a:t>Instructor · Office hours by appointment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2AE61-A126-4EF9-B83C-7BBB715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A46"/>
                </a:solidFill>
              </a:defRPr>
            </a:pPr>
            <a:r>
              <a:rPr sz="2100" b="1">
                <a:solidFill>
                  <a:srgbClr val="172A46"/>
                </a:solidFill>
              </a:rPr>
              <a:t>Sarah Traore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D0EE0-A945-4942-A44B-BF2A68D2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7"/>
                </a:solidFill>
              </a:defRPr>
            </a:pPr>
            <a:r>
              <a:rPr sz="1500" b="0">
                <a:solidFill>
                  <a:srgbClr val="5E6877"/>
                </a:solidFill>
              </a:rPr>
              <a:t>Teaching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8EBD2-1EDC-488C-874B-A0C34E4C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E0EE9-62DD-480F-8156-AB48968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64700-C6BA-4192-9D83-2E6B9B2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Monday: substantive question + statistical reasoning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ED1AB-60C8-40D2-9EF4-A8CAA354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B08B3-B08E-4BC4-AD29-10DCD392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67025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Wednesday: guided analysis in 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2863E-AFE4-446C-B9B7-12E68BA4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CC7E1-BCFD-426B-BD00-EECDB0D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Friday: review, troubleshooting, and On Your Own support</a:t>
            </a:r>
          </a:p>
        </p:txBody>
      </p:sp>
    </p:spTree>
    <p:extLst>
      <p:ext uri="{BB962C8B-B14F-4D97-AF65-F5344CB8AC3E}">
        <p14:creationId xmlns:p14="http://schemas.microsoft.com/office/powerpoint/2010/main" val="1579481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323C0-8CD3-4547-A3EB-B0E4EA4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10A8D-3820-4186-A01C-A60B8D3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FC7D9-4136-4642-954C-A8D796C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28F90-9B6F-4DE6-9D14-6C9B2875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Required materials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9A46A-2A41-4F99-BCAD-9942712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46D86-DE08-48AB-BB8A-0820483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D7671-A8F6-4CDB-8C9E-829769F6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A46"/>
                </a:solidFill>
              </a:defRPr>
            </a:pPr>
            <a:r>
              <a:rPr sz="2100" b="1">
                <a:solidFill>
                  <a:srgbClr val="172A46"/>
                </a:solidFill>
              </a:rPr>
              <a:t>OpenIntro Statistics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18437-E675-41F2-B2EB-48C121A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7"/>
                </a:solidFill>
              </a:defRPr>
            </a:pPr>
            <a:r>
              <a:rPr sz="1575" b="0">
                <a:solidFill>
                  <a:srgbClr val="5E6877"/>
                </a:solidFill>
              </a:rPr>
              <a:t>4th edition · Free online at openintro.org/book/os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552A0-32E3-4B57-BB72-F29B3CB9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A46"/>
                </a:solidFill>
              </a:defRPr>
            </a:pPr>
            <a:r>
              <a:rPr sz="2100" b="1">
                <a:solidFill>
                  <a:srgbClr val="172A46"/>
                </a:solidFill>
              </a:rPr>
              <a:t>Software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31273-AC69-4964-A103-112D5AC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964EE-A1A2-4EF2-AD23-7E3FC4F2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3805B-0008-4D15-B67B-37699E5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40B56-FA05-4D07-9AD4-26602E3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9582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RStudio Desktop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C4DFF-E244-40B9-893F-3371540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21A50-F482-4C14-B89D-071BEFD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4827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Quarto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F455A-42D9-47C5-AD28-55C3A18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F5700"/>
                </a:solidFill>
              </a:defRPr>
            </a:pPr>
            <a:r>
              <a:rPr sz="1875" b="1">
                <a:solidFill>
                  <a:srgbClr val="BF5700"/>
                </a:solidFill>
              </a:rPr>
              <a:t>Bring a laptop to Wednesday labs and Friday sections.</a:t>
            </a:r>
          </a:p>
        </p:txBody>
      </p:sp>
    </p:spTree>
    <p:extLst>
      <p:ext uri="{BB962C8B-B14F-4D97-AF65-F5344CB8AC3E}">
        <p14:creationId xmlns:p14="http://schemas.microsoft.com/office/powerpoint/2010/main" val="70427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65F52-11FD-4F6C-AAA8-2CC8B16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95D50-B79A-4173-AB0D-4D468029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1FF54-5B07-4F18-A7E7-4F0E687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B93FC-6FB3-421B-B16A-5CC16498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Six units build one analytical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58B18-12D3-4DFB-94A8-AFD0060C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F6D1B-DA15-493D-B670-F0A076D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2385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C7E70-DB1C-44F2-BDFD-7834856E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4E5A7-CBD3-4AE1-9F14-24C30210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97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Data, measurement,</a:t>
            </a:r>
          </a:p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and exploration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F2066-5BF9-44F6-806E-7AB74413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2385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18CEE-DAD4-46C3-96CD-BB25CB31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4532E-0EC0-4261-A1A4-272AD36E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97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Probability and</a:t>
            </a:r>
          </a:p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distributions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32312-7988-4A33-BE9B-EE0F466B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2385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5BEDA-F6B6-4361-A541-4DEEAF90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623AA-05D8-4287-A209-D88CDF9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97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Sampling and</a:t>
            </a:r>
          </a:p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uncertainty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17095-814F-47D4-80E3-C712EEB9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2385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E4C0A-E8B1-47E8-A823-3D1AA5A6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DEA64-68A9-4161-99E7-49F2405E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95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Testing and</a:t>
            </a:r>
          </a:p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496FE-CB2A-4AC4-80B6-74CE7164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32385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7EF54-2332-46E8-ADF0-B58B4691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DBC73-3E7A-4BCD-A882-E8BBD3B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95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Correlation and</a:t>
            </a:r>
          </a:p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66F74-98D8-4B7F-8A51-11ECA259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385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572FC-F44F-40E0-82CF-ABA527F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DC84C-0E86-4929-9D2F-9728426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95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Interpretation and</a:t>
            </a:r>
          </a:p>
          <a:p xmlns:a="http://schemas.openxmlformats.org/drawingml/2006/main">
            <a:pPr algn="l"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1757769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7CC79-6608-4E2B-BD2C-98604254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58C1E-41F8-4DD3-807A-2750CA9D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B7AA4-8714-44EB-AA8A-0D45F98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078C7-CC75-4382-A341-C2FD60B9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Three elements stay connected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C61FE-4C78-43D6-BBE1-7A1EAF9E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6647E-C180-4E23-8501-5193FA87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238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861F4-FFE9-49F3-AAEB-450D506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A46"/>
                </a:solidFill>
              </a:defRPr>
            </a:pPr>
            <a:r>
              <a:rPr sz="1950" b="1">
                <a:solidFill>
                  <a:srgbClr val="172A46"/>
                </a:solidFill>
              </a:rPr>
              <a:t>Statistical reasoning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3681F-27DD-438C-9FFD-364491B5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6877"/>
                </a:solidFill>
              </a:defRPr>
            </a:pPr>
            <a:r>
              <a:rPr sz="1575" b="0">
                <a:solidFill>
                  <a:srgbClr val="5E6877"/>
                </a:solidFill>
              </a:rPr>
              <a:t>What does the method do?</a:t>
            </a:r>
          </a:p>
          <a:p xmlns:a="http://schemas.openxmlformats.org/drawingml/2006/main">
            <a:pPr algn="ctr">
              <a:defRPr sz="1575" b="0">
                <a:solidFill>
                  <a:srgbClr val="5E6877"/>
                </a:solidFill>
              </a:defRPr>
            </a:pPr>
            <a:r>
              <a:rPr sz="1575" b="0">
                <a:solidFill>
                  <a:srgbClr val="5E6877"/>
                </a:solidFill>
              </a:rPr>
              <a:t>When is it appropriate?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51E15-71F3-4B09-A3CB-748BB8EE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3238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2A46"/>
          </a:solidFill>
          <a:ln xmlns:a="http://schemas.openxmlformats.org/drawingml/2006/main" w="9525">
            <a:solidFill>
              <a:srgbClr val="172A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6312C-26C9-4A2B-8454-5871C4FC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 programming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C7DDC-EB81-4CAF-A219-653F5EE3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5EBF4"/>
                </a:solidFill>
              </a:defRPr>
            </a:pPr>
            <a:r>
              <a:rPr sz="1575" b="0">
                <a:solidFill>
                  <a:srgbClr val="E5EBF4"/>
                </a:solidFill>
              </a:rPr>
              <a:t>How do we implement it</a:t>
            </a:r>
          </a:p>
          <a:p xmlns:a="http://schemas.openxmlformats.org/drawingml/2006/main">
            <a:pPr algn="ctr">
              <a:defRPr sz="1575" b="0">
                <a:solidFill>
                  <a:srgbClr val="E5EBF4"/>
                </a:solidFill>
              </a:defRPr>
            </a:pPr>
            <a:r>
              <a:rPr sz="1575" b="0">
                <a:solidFill>
                  <a:srgbClr val="E5EBF4"/>
                </a:solidFill>
              </a:rPr>
              <a:t>and check the output?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F898C-1F39-4578-83D6-2DA2DF71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238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ACF06-0204-4CB9-93A9-7A78CC1C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A46"/>
                </a:solidFill>
              </a:defRPr>
            </a:pPr>
            <a:r>
              <a:rPr sz="1950" b="1">
                <a:solidFill>
                  <a:srgbClr val="172A46"/>
                </a:solidFill>
              </a:rPr>
              <a:t>Policy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0027B-CE74-4FB2-B8BB-579566F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6877"/>
                </a:solidFill>
              </a:defRPr>
            </a:pPr>
            <a:r>
              <a:rPr sz="1575" b="0">
                <a:solidFill>
                  <a:srgbClr val="5E6877"/>
                </a:solidFill>
              </a:rPr>
              <a:t>What does the result mean</a:t>
            </a:r>
          </a:p>
          <a:p xmlns:a="http://schemas.openxmlformats.org/drawingml/2006/main">
            <a:pPr algn="ctr">
              <a:defRPr sz="1575" b="0">
                <a:solidFill>
                  <a:srgbClr val="5E6877"/>
                </a:solidFill>
              </a:defRPr>
            </a:pPr>
            <a:r>
              <a:rPr sz="1575" b="0">
                <a:solidFill>
                  <a:srgbClr val="5E6877"/>
                </a:solidFill>
              </a:rPr>
              <a:t>for the real question?</a:t>
            </a:r>
          </a:p>
        </p:txBody>
      </p:sp>
    </p:spTree>
    <p:extLst>
      <p:ext uri="{BB962C8B-B14F-4D97-AF65-F5344CB8AC3E}">
        <p14:creationId xmlns:p14="http://schemas.microsoft.com/office/powerpoint/2010/main" val="1133188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ACD38-36D9-4031-88DA-EDAC896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3377A-84B3-4912-900B-BC22C26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AD4B2-F56D-4F5D-AD67-BBC008D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70290-D5D7-415E-B5B5-6896494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Assessment emphasizes sustained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82ED9-395F-426F-A60F-7E32885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D49B3-1BE3-4AFD-81A0-0FB4D13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526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Problem 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78940-2A68-4566-9471-FF6C310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D0BB6-E3B2-46D5-AF51-DA20FA13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6217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62EA9-7250-4CC8-B919-938197E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Guided labs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D20C-7513-44C4-BCA0-E10AB5B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B3ADD-FEC9-425D-907B-FA148F2F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5272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6B992-4CFB-415F-A4E1-1DAA3A6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Midterm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C7D08-808F-4476-B6B7-AC28003E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10%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77C2C-1AF1-42E9-BBE5-BECDE66D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4327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6418D-967F-418B-8839-9A73A198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24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Project 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AF8A6-866E-427F-9FA9-697898F3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22E2F-929A-4CC5-A32C-7C9A55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1BAD0-78BD-4A34-9A8A-759FA910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Reproducible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7D79E-CF7F-46C0-B617-B1390324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20%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A68B0-E5E2-412E-B8AE-75736AFB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66A5F-37DE-403F-AB3C-C05E5754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Poster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ABB60-C8DF-497B-A437-9225BFAB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C0DA5-BCEC-41AE-826F-AFD5BDE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1492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D266D-70C1-4E6D-8A39-F1A7A12D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Participation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7A413-62E3-4894-9218-619535E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F5700"/>
                </a:solidFill>
              </a:defRPr>
            </a:pPr>
            <a:r>
              <a:rPr sz="1800" b="1">
                <a:solidFill>
                  <a:srgbClr val="BF5700"/>
                </a:solidFill>
              </a:rPr>
              <a:t>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511CA-9C34-4FA1-9855-E817E70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05475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7817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AA023-F431-447F-8190-1D89668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FD0B4-512F-4E02-B9D1-DC1647E5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FBB35-99D7-4FDB-8615-CD4138D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97DD-FEA7-45D5-89A7-CAD7EF6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The project ends with analysis and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FE39B-413A-40FD-A035-881DC937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0E9DB-0156-4592-A16A-853CB094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F504A-BF88-4F0D-BCC2-73243D10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47850"/>
            <a:ext cx="986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Ask an answerable public-policy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0E99F-9CEC-438A-A39F-7C8E2E0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7CD55-6A65-49B5-B537-B3B2B7C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90800"/>
            <a:ext cx="986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Analyze real data independently in 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F409A-C926-4BF9-81C0-A99F585D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13CFA-2AD8-41AF-9C8B-A04AE46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986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Submit a reproducible Quarto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BB8F6-8181-4CA2-90DD-8E960641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F45CC-198F-49A5-8C8B-AC21963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86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Translate the evidence into a concise policy poster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32A18-EFA7-44A3-BD59-9AA8735E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45CEC-B215-475A-B1DB-A0041BD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986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Explain the finding—and its limitations—in the poster session</a:t>
            </a:r>
          </a:p>
        </p:txBody>
      </p:sp>
    </p:spTree>
    <p:extLst>
      <p:ext uri="{BB962C8B-B14F-4D97-AF65-F5344CB8AC3E}">
        <p14:creationId xmlns:p14="http://schemas.microsoft.com/office/powerpoint/2010/main" val="624212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11FA-1801-497E-8D28-65ABC6C7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66DA6-1060-4664-95E0-2FE69019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4F372-93AF-41BB-9AA8-3F61BE8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C7FA9-580C-49D0-8FC1-60095E5F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The midterm is an individual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E3881-96E7-4B39-B428-E0595BD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1B6EF-268B-4685-BAA2-B616992F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10382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12CA0-CB9E-45E2-A74F-5D26CD1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700"/>
                </a:solidFill>
              </a:defRPr>
            </a:pPr>
            <a:r>
              <a:rPr sz="2250" b="1">
                <a:solidFill>
                  <a:srgbClr val="BF5700"/>
                </a:solidFill>
              </a:rPr>
              <a:t>Monday, November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E8F3E-252A-4621-A091-63378F0A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40C1E-5F16-40F4-A5ED-2E99138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57500"/>
            <a:ext cx="891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Units 1–4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3D18D-9BCE-4307-AB2F-7E26173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80B7D-CCAD-462A-BC61-BAE6A844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891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Statistical reasoning, interpretation, and manageable calculations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6F378-50BD-401B-BE50-738C29F3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D23BA-8CEE-4ACB-AF16-6D46905F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86200"/>
            <a:ext cx="891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No R coding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DBA50-6EF3-44CF-848E-C6707BE1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72A1A-E72D-4DDA-A903-781ED3C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891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One student-prepared double-sided reference sheet</a:t>
            </a:r>
          </a:p>
        </p:txBody>
      </p:sp>
    </p:spTree>
    <p:extLst>
      <p:ext uri="{BB962C8B-B14F-4D97-AF65-F5344CB8AC3E}">
        <p14:creationId xmlns:p14="http://schemas.microsoft.com/office/powerpoint/2010/main" val="1061853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1EF3C-D22F-420B-ABFB-0BBD7C1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327ED-7854-430D-B878-381E9E7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DCB79-64C0-4020-ACA5-1174A17C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BD562-4DD1-45F9-9490-EA8561F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What usually makes students successful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B2011-F723-4C16-934E-6A05C9CB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0AF4D-5BF6-45A9-8127-6F04F62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E7885-065B-4626-9A1C-AB88284B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977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Complete the reading before each unit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4A675-8E90-4DEE-B5CE-12A37C03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C4F8-9171-441F-9146-7904843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977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Be active during lectures, labs, and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5B6C2-027B-421B-9231-FA4B5264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59058-A3F7-4B54-9DCE-6D350853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977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Start problem sets early—and show your reasoning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9B49F-1892-4BFF-9FF7-F70785CF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3D657-19A8-4F62-81B8-34069126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977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Ask questions before confusion accumulates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B005F-F27B-4754-B34C-88C7F974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C3038-9B3A-4A41-996F-784680EE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977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Render your Quarto work often, not only before submission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7EC08-3154-4546-9934-04A46B3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6110F-05CE-4986-84E4-0EB1E42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977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Start the project well before the deadline</a:t>
            </a:r>
          </a:p>
        </p:txBody>
      </p:sp>
    </p:spTree>
    <p:extLst>
      <p:ext uri="{BB962C8B-B14F-4D97-AF65-F5344CB8AC3E}">
        <p14:creationId xmlns:p14="http://schemas.microsoft.com/office/powerpoint/2010/main" val="888885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6D838-97C1-4065-AA7D-D8A751E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29714-1111-448F-8157-C0A1A97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4756-D784-45B0-B1F0-53DBB52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1D077-8E4A-4850-81E0-C806AD0E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Before Wednesday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30BA2-A8FB-4E35-AF78-349CC31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8DEA4-CE45-4487-8D99-DF82BAF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12CA3-55CF-41E1-BC64-E71E166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52625"/>
            <a:ext cx="929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Download the free OpenIntro textbook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32B3F-C475-4A4E-A8F7-7FAA355C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0AC7A-B9B8-4678-B145-8DC6BA7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76525"/>
            <a:ext cx="929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Install R, RStudio Desktop, and Quarto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3761D-6AF5-44BD-8DF7-732B58C0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1607E-078C-4E27-89E4-3730B3A6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0425"/>
            <a:ext cx="929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Read the syllabus and schedule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34065-0B96-4258-B445-FFA92AF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25E26-4805-4F31-8D69-65C27423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29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Bring your laptop to Lab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EA0EE-1DDC-439D-A361-2427B145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82E79-8FC6-4267-A559-5B5C65A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48225"/>
            <a:ext cx="929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Come ready to render your first Quarto report</a:t>
            </a:r>
          </a:p>
        </p:txBody>
      </p:sp>
    </p:spTree>
    <p:extLst>
      <p:ext uri="{BB962C8B-B14F-4D97-AF65-F5344CB8AC3E}">
        <p14:creationId xmlns:p14="http://schemas.microsoft.com/office/powerpoint/2010/main" val="294419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D19C5-E444-4FB8-ADEE-D531247F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30C32-BA89-4EDA-A52B-FD13FA1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CEBB9-8177-4AC6-B310-3DD67C35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05656-749D-417D-9F38-80D59DBF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Why presentation and modeling matter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46ACF-313C-499F-9254-4544E3F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CA3C-0044-4309-B678-BF23EB8E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A46"/>
                </a:solidFill>
              </a:defRPr>
            </a:pPr>
            <a:r>
              <a:rPr sz="2250" b="1">
                <a:solidFill>
                  <a:srgbClr val="172A46"/>
                </a:solidFill>
              </a:rPr>
              <a:t>In 1986, the Challenger space shuttle exploded shortly after liftoff.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6900F-1D6C-44AE-AA7B-0016E5E5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7"/>
                </a:solidFill>
              </a:defRPr>
            </a:pPr>
            <a:r>
              <a:rPr sz="1800" b="0">
                <a:solidFill>
                  <a:srgbClr val="5E6877"/>
                </a:solidFill>
              </a:rPr>
              <a:t>O-ring failure was central to the disaster. Could the risk have been seen before launch?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9a96b41d0418f"/>
          <a:stretch xmlns:a="http://schemas.openxmlformats.org/drawingml/2006/main"/>
        </p:blipFill>
        <p:spPr>
          <a:xfrm xmlns:a="http://schemas.openxmlformats.org/drawingml/2006/main">
            <a:off x="7815818" y="1619250"/>
            <a:ext cx="2561114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712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C0BFE-39DA-462C-9F16-D841E0B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1CEE3-814E-4C43-88C9-EDF96F5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CD8F5-9D3C-47EB-803D-463CB2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0A97A-5219-4EFF-B527-B01BC84B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The engineers looked only at damaged flights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CC847-3976-4EE6-9915-59B1B48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143000" y="1762125"/>
          <a:ext xmlns:a="http://schemas.openxmlformats.org/drawingml/2006/main" cx="4762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381250"/>
              </a:tblGrid>
              <a:tr h="48815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Flight</a:t>
                      </a:r>
                    </a:p>
                  </a:txBody>
                  <a:tcPr marL="91440" marR="91440" marT="45720" marB="45720"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Temperature (°F)</a:t>
                      </a:r>
                    </a:p>
                  </a:txBody>
                  <a:tcPr marL="91440" marR="91440" marT="45720" marB="45720">
                    <a:solidFill>
                      <a:srgbClr val="172A46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41B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41C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41D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51C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53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61A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79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61C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8254B-F734-48EE-8044-016E3ED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F5700"/>
                </a:solidFill>
              </a:defRPr>
            </a:pPr>
            <a:r>
              <a:rPr sz="2400" b="1">
                <a:solidFill>
                  <a:srgbClr val="BF5700"/>
                </a:solidFill>
              </a:rPr>
              <a:t>What is missing?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80A7B-3341-494E-BF85-40A1C52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A46"/>
                </a:solidFill>
              </a:defRPr>
            </a:pPr>
            <a:r>
              <a:rPr sz="1875" b="1">
                <a:solidFill>
                  <a:srgbClr val="172A46"/>
                </a:solidFill>
              </a:rPr>
              <a:t>Failures are meaningful only when compared with successes.</a:t>
            </a:r>
          </a:p>
        </p:txBody>
      </p:sp>
    </p:spTree>
    <p:extLst>
      <p:ext uri="{BB962C8B-B14F-4D97-AF65-F5344CB8AC3E}">
        <p14:creationId xmlns:p14="http://schemas.microsoft.com/office/powerpoint/2010/main" val="1657785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255FF-3FB0-4550-972D-A92F557A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5C98D-860E-4A5D-AA12-4DB08F1C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7EFB1-1630-4BC5-AE01-13C5882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B23DA-6CF8-4C37-ABE4-1175E7C2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Selection changes the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22D4B-49FA-44EE-B7BD-A93588A4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EEB63-B7B9-46F5-8145-CBEB266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46"/>
                </a:solidFill>
              </a:defRPr>
            </a:pPr>
            <a:r>
              <a:rPr sz="2400" b="1">
                <a:solidFill>
                  <a:srgbClr val="172A46"/>
                </a:solidFill>
              </a:rPr>
              <a:t>Looking only at failures is selection on the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2F0B-35A0-4787-9FFE-FFD62C38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4000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E2D3"/>
          </a:solidFill>
          <a:ln xmlns:a="http://schemas.openxmlformats.org/drawingml/2006/main" w="9525">
            <a:solidFill>
              <a:srgbClr val="F4E2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9F213-1DE2-4FDC-B684-AABDE54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B42318"/>
                </a:solidFill>
              </a:rPr>
              <a:t>Damaged flights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0953C-BFB0-4920-BBE8-9ADA21D6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877"/>
                </a:solidFill>
              </a:defRPr>
            </a:pPr>
            <a:r>
              <a:rPr sz="1650" b="0">
                <a:solidFill>
                  <a:srgbClr val="5E6877"/>
                </a:solidFill>
              </a:rPr>
              <a:t>7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5CA95-E0DE-4D4E-BA37-855A178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F5700"/>
                </a:solidFill>
              </a:defRPr>
            </a:pPr>
            <a:r>
              <a:rPr sz="3150" b="1">
                <a:solidFill>
                  <a:srgbClr val="BF5700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2AC9F-86CA-4EE1-B7C2-80E42532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000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BCEC4-C1A7-40CF-8A69-F378E1CC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623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A46"/>
                </a:solidFill>
              </a:defRPr>
            </a:pPr>
            <a:r>
              <a:rPr sz="1950" b="1">
                <a:solidFill>
                  <a:srgbClr val="172A46"/>
                </a:solidFill>
              </a:rPr>
              <a:t>Successful flights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52E2-20AC-4D88-B7F6-B1A735A5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95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877"/>
                </a:solidFill>
              </a:defRPr>
            </a:pPr>
            <a:r>
              <a:rPr sz="1650" b="0">
                <a:solidFill>
                  <a:srgbClr val="5E6877"/>
                </a:solidFill>
              </a:rPr>
              <a:t>15 observations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F6E42-7B77-46D3-9509-9422F72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877"/>
                </a:solidFill>
              </a:defRPr>
            </a:pPr>
            <a:r>
              <a:rPr sz="1800" b="0">
                <a:solidFill>
                  <a:srgbClr val="5E6877"/>
                </a:solidFill>
              </a:rPr>
              <a:t>The full comparison reveals the relationship between temperature and damage.</a:t>
            </a:r>
          </a:p>
        </p:txBody>
      </p:sp>
    </p:spTree>
    <p:extLst>
      <p:ext uri="{BB962C8B-B14F-4D97-AF65-F5344CB8AC3E}">
        <p14:creationId xmlns:p14="http://schemas.microsoft.com/office/powerpoint/2010/main" val="21441316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660C2-9ABC-4844-BBE8-13EFE41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EF467-5A29-4F44-92C4-B87ED805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570D5-7052-4257-864D-B76B64A7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F6350-8CED-44BB-A9E5-9DB5303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A graph makes the relationship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ECEAA-B2E5-40E0-AD36-5EB06D3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2914514434a68"/>
          <a:stretch xmlns:a="http://schemas.openxmlformats.org/drawingml/2006/main"/>
        </p:blipFill>
        <p:spPr>
          <a:xfrm xmlns:a="http://schemas.openxmlformats.org/drawingml/2006/main">
            <a:off x="2428875" y="1789334"/>
            <a:ext cx="7334250" cy="40603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061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3A44F-3B56-43AE-AF6D-FA16E072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433F6-EE70-41BE-9364-5678B64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8EFAB-6536-40E5-A092-5A5AB6C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A20A8-0C26-488B-8EA5-135159FC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The launch temperature was outside prior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71C28-2537-4D29-BE8C-644A334C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c6e2a19674278"/>
          <a:stretch xmlns:a="http://schemas.openxmlformats.org/drawingml/2006/main"/>
        </p:blipFill>
        <p:spPr>
          <a:xfrm xmlns:a="http://schemas.openxmlformats.org/drawingml/2006/main">
            <a:off x="1809750" y="2130253"/>
            <a:ext cx="8572500" cy="33594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37C03-BA1D-46E0-A552-CF6B2A3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286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A46"/>
          </a:solidFill>
          <a:ln xmlns:a="http://schemas.openxmlformats.org/drawingml/2006/main" w="9525">
            <a:solidFill>
              <a:srgbClr val="172A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E4B5D-C55C-4D10-B2BB-1633C53B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26–29°F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24DAE-2E2B-49D2-A564-BA6ED02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FEA"/>
                </a:solidFill>
              </a:defRPr>
            </a:pPr>
            <a:r>
              <a:rPr sz="1350" b="0">
                <a:solidFill>
                  <a:srgbClr val="D7DFEA"/>
                </a:solidFill>
              </a:rPr>
              <a:t>forecast launch</a:t>
            </a:r>
          </a:p>
          <a:p xmlns:a="http://schemas.openxmlformats.org/drawingml/2006/main">
            <a:pPr algn="ctr">
              <a:defRPr sz="1350" b="0">
                <a:solidFill>
                  <a:srgbClr val="D7DFEA"/>
                </a:solidFill>
              </a:defRPr>
            </a:pPr>
            <a:r>
              <a:rPr sz="1350" b="0">
                <a:solidFill>
                  <a:srgbClr val="D7DFEA"/>
                </a:solidFill>
              </a:rPr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19061575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6D0DD-BF10-402B-B27B-DABFCE8E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E9E51-6E06-437F-A8E5-6A9CCB9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B5E41-95F3-430E-80DB-A4F853E3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599E0-34D1-4C5A-A5E1-0A41DD2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A model turns a pattern into a decision quantity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987F6-CC32-4CA7-8727-04901732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C4D1-C01F-4FAA-93D0-488DEA5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A46"/>
                </a:solidFill>
              </a:defRPr>
            </a:pPr>
            <a:r>
              <a:rPr sz="2025" b="1">
                <a:solidFill>
                  <a:srgbClr val="172A46"/>
                </a:solidFill>
              </a:rPr>
              <a:t>The practical question is not simply whether temperature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EF37-6B49-433C-9F3C-E514B10A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8763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172A46"/>
          </a:solidFill>
          <a:ln xmlns:a="http://schemas.openxmlformats.org/drawingml/2006/main" w="9525">
            <a:solidFill>
              <a:srgbClr val="172A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75FB9-8EF1-44F9-A53B-3972B75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289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What is the probability of O-ring damage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at the expected launch temperature?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9CEA1-DAD4-4E93-A3D5-62F63498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877"/>
                </a:solidFill>
              </a:defRPr>
            </a:pPr>
            <a:r>
              <a:rPr sz="1800" b="0">
                <a:solidFill>
                  <a:srgbClr val="5E6877"/>
                </a:solidFill>
              </a:rPr>
              <a:t>Good analysis connects data, a model, uncertainty, and the decision at hand.</a:t>
            </a:r>
          </a:p>
        </p:txBody>
      </p:sp>
    </p:spTree>
    <p:extLst>
      <p:ext uri="{BB962C8B-B14F-4D97-AF65-F5344CB8AC3E}">
        <p14:creationId xmlns:p14="http://schemas.microsoft.com/office/powerpoint/2010/main" val="6838419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8F991-F985-475B-8FB7-94749977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12078-1545-4E0A-BD77-02B0FFCC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49850-05C5-44A9-868B-0CBD1628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E4004-FDBA-4070-9710-9366A929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Clear visualization communicates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8B3C8-8C59-47EB-AA1A-C974599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d181f62ba4768"/>
          <a:stretch xmlns:a="http://schemas.openxmlformats.org/drawingml/2006/main"/>
        </p:blipFill>
        <p:spPr>
          <a:xfrm xmlns:a="http://schemas.openxmlformats.org/drawingml/2006/main">
            <a:off x="2696863" y="1657350"/>
            <a:ext cx="6798274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798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82FF4-5DD4-4C1A-B8D2-41D66DB0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58BF3-F6D6-4FAD-9CB8-8F8C5E2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</a:defRPr>
            </a:pPr>
            <a:r>
              <a:rPr sz="900" b="0">
                <a:solidFill>
                  <a:srgbClr val="5E6877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FF5AF-F91B-45BC-BC8B-1A1E175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5700"/>
                </a:solidFill>
              </a:defRPr>
            </a:pPr>
            <a:r>
              <a:rPr sz="1050" b="1">
                <a:solidFill>
                  <a:srgbClr val="BF5700"/>
                </a:solidFill>
              </a:rPr>
              <a:t>PA 311N · DATA ANALYSIS FOR PUBLIC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B2277-A306-4BC3-8C3C-DA20E4CB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46"/>
                </a:solidFill>
              </a:defRPr>
            </a:pPr>
            <a:r>
              <a:rPr sz="2700" b="1">
                <a:solidFill>
                  <a:srgbClr val="172A46"/>
                </a:solidFill>
              </a:rPr>
              <a:t>The course objective in one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02EFC-3172-4371-A0B7-4822314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b0cae3ba0475b"/>
          <a:stretch xmlns:a="http://schemas.openxmlformats.org/drawingml/2006/main"/>
        </p:blipFill>
        <p:spPr>
          <a:xfrm xmlns:a="http://schemas.openxmlformats.org/drawingml/2006/main">
            <a:off x="1012077" y="1857375"/>
            <a:ext cx="3309846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130B-6396-4E03-BD44-0D3EED3F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C5CB6-B67B-471C-B318-1F67E27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00250"/>
            <a:ext cx="5581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Use all relevant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D0B46-61AB-4F3A-9A54-6BD8C94F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19D46-DC46-4556-BFE5-A9135F8C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5581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Choose comparisons that answer the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878B6-D9D5-4300-AFA6-5C9CA28C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72460-5A43-4382-B891-29B99DAD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5581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Model uncertainty honestly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CC121-BA10-4B52-B49B-239A7426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FD844-9F92-408C-BA3D-0948D14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57650"/>
            <a:ext cx="5581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Present the result so others can act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13B3C-C8CE-451D-9414-F8238131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F5700"/>
                </a:solidFill>
              </a:defRPr>
            </a:pPr>
            <a:r>
              <a:rPr sz="1950" b="1">
                <a:solidFill>
                  <a:srgbClr val="BF5700"/>
                </a:solidFill>
              </a:rPr>
              <a:t>Statistics is not a collection of formulas. It is a disciplined way to learn from evidence.</a:t>
            </a:r>
          </a:p>
        </p:txBody>
      </p:sp>
    </p:spTree>
    <p:extLst>
      <p:ext uri="{BB962C8B-B14F-4D97-AF65-F5344CB8AC3E}">
        <p14:creationId xmlns:p14="http://schemas.microsoft.com/office/powerpoint/2010/main" val="175421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2026-08-24T18:58:33.7720000Z</dcterms:created>
  <dcterms:modified xsi:type="dcterms:W3CDTF">2026-08-24T18:58:33.7720000Z</dcterms:modified>
</coreProperties>
</file>